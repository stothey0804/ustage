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100000"/>
            <a:ext cx="970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2000" b="1">
                <a:solidFill>
                  <a:srgbClr val="2B8A8A"/>
                </a:solidFill>
                <a:latin typeface="Apple SD Gothic Neo"/>
              </a:rPr>
              <a:t>us.tage</a:t>
            </a:r>
          </a:p>
          <a:p>
            <a:pPr algn="l">
              <a:spcAft>
                <a:spcPts val="2000"/>
              </a:spcAft>
            </a:pPr>
            <a:r>
              <a:rPr sz="4000" b="1">
                <a:solidFill>
                  <a:srgbClr val="1A2626"/>
                </a:solidFill>
                <a:latin typeface="Apple SD Gothic Neo"/>
              </a:rPr>
              <a:t>공연 명단 관리와 당일 입장 처리를</a:t>
            </a:r>
          </a:p>
          <a:p>
            <a:pPr algn="l">
              <a:spcAft>
                <a:spcPts val="2000"/>
              </a:spcAft>
            </a:pPr>
            <a:r>
              <a:rPr sz="4000" b="1">
                <a:solidFill>
                  <a:srgbClr val="1A2626"/>
                </a:solidFill>
                <a:latin typeface="Apple SD Gothic Neo"/>
              </a:rPr>
              <a:t>링크 하나로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6B7C7C"/>
                </a:solidFill>
                <a:latin typeface="Apple SD Gothic Neo"/>
              </a:rPr>
              <a:t>소규모 공연·강연을 위한 비공개 예매 서비스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6B7C7C"/>
                </a:solidFill>
                <a:latin typeface="Apple SD Gothic Neo"/>
              </a:rPr>
              <a:t>신청 → 입금 확인 → QR 입장 → 추첨까지 한 흐름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700000"/>
            <a:ext cx="470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1">
                <a:solidFill>
                  <a:srgbClr val="2B8A8A"/>
                </a:solidFill>
                <a:latin typeface="Apple SD Gothic Neo"/>
              </a:rPr>
              <a:t>01 필요성</a:t>
            </a:r>
          </a:p>
          <a:p>
            <a:pPr algn="l">
              <a:spcAft>
                <a:spcPts val="2000"/>
              </a:spcAft>
            </a:pPr>
            <a:r>
              <a:rPr sz="2600" b="1">
                <a:solidFill>
                  <a:srgbClr val="1A2626"/>
                </a:solidFill>
                <a:latin typeface="Apple SD Gothic Neo"/>
              </a:rPr>
              <a:t>명단 관리와 입장 처리를 한 곳에서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2500000"/>
            <a:ext cx="4700000" cy="3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6B7C7C"/>
                </a:solidFill>
                <a:latin typeface="Apple SD Gothic Neo"/>
              </a:rPr>
              <a:t>· 메신저·스프레드시트로 나눠 관리하면 입금 확인과 입장 확인이 어긋난다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6B7C7C"/>
                </a:solidFill>
                <a:latin typeface="Apple SD Gothic Neo"/>
              </a:rPr>
              <a:t>· 신청부터 입금 확인, 현장 입장까지 하나의 명단 위에서 처리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6B7C7C"/>
                </a:solidFill>
                <a:latin typeface="Apple SD Gothic Neo"/>
              </a:rPr>
              <a:t>· 명단 화면은 데스크톱 기준 — 한 화면에서 훑고 바로 처리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840000" y="1555789"/>
            <a:ext cx="5620000" cy="3738421"/>
          </a:xfrm>
          <a:prstGeom prst="rect">
            <a:avLst/>
          </a:prstGeom>
          <a:solidFill>
            <a:srgbClr val="FFFFFF"/>
          </a:solidFill>
          <a:ln>
            <a:solidFill>
              <a:srgbClr val="E3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7-r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0000" y="1615789"/>
            <a:ext cx="5500000" cy="361842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700000"/>
            <a:ext cx="470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1">
                <a:solidFill>
                  <a:srgbClr val="2B8A8A"/>
                </a:solidFill>
                <a:latin typeface="Apple SD Gothic Neo"/>
              </a:rPr>
              <a:t>02 앱 개요</a:t>
            </a:r>
          </a:p>
          <a:p>
            <a:pPr algn="l">
              <a:spcAft>
                <a:spcPts val="2000"/>
              </a:spcAft>
            </a:pPr>
            <a:r>
              <a:rPr sz="2600" b="1">
                <a:solidFill>
                  <a:srgbClr val="1A2626"/>
                </a:solidFill>
                <a:latin typeface="Apple SD Gothic Neo"/>
              </a:rPr>
              <a:t>등록한 공연을 비공개 링크로 공유하고 예매 폼 제공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2500000"/>
            <a:ext cx="4700000" cy="3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6B7C7C"/>
                </a:solidFill>
                <a:latin typeface="Apple SD Gothic Neo"/>
              </a:rPr>
              <a:t>· 포스터·일시·장소·가격·좌석 수를 채우면 예매 링크 생성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6B7C7C"/>
                </a:solidFill>
                <a:latin typeface="Apple SD Gothic Neo"/>
              </a:rPr>
              <a:t>· 링크를 받은 사람만 예매 — 검색으로 발견되지 않는다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6B7C7C"/>
                </a:solidFill>
                <a:latin typeface="Apple SD Gothic Neo"/>
              </a:rPr>
              <a:t>· 링크 복사와 예매 QR 공유로 포스터·SNS에 바로 부착</a:t>
            </a:r>
          </a:p>
        </p:txBody>
      </p:sp>
      <p:sp>
        <p:nvSpPr>
          <p:cNvPr id="4" name="Rectangle 3"/>
          <p:cNvSpPr/>
          <p:nvPr/>
        </p:nvSpPr>
        <p:spPr>
          <a:xfrm>
            <a:off x="7330818" y="640000"/>
            <a:ext cx="2638364" cy="5570000"/>
          </a:xfrm>
          <a:prstGeom prst="rect">
            <a:avLst/>
          </a:prstGeom>
          <a:solidFill>
            <a:srgbClr val="FFFFFF"/>
          </a:solidFill>
          <a:ln>
            <a:solidFill>
              <a:srgbClr val="E3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3-booking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0818" y="700000"/>
            <a:ext cx="2518364" cy="545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700000"/>
            <a:ext cx="470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1">
                <a:solidFill>
                  <a:srgbClr val="2B8A8A"/>
                </a:solidFill>
                <a:latin typeface="Apple SD Gothic Neo"/>
              </a:rPr>
              <a:t>03 자동 메일</a:t>
            </a:r>
          </a:p>
          <a:p>
            <a:pPr algn="l">
              <a:spcAft>
                <a:spcPts val="2000"/>
              </a:spcAft>
            </a:pPr>
            <a:r>
              <a:rPr sz="2600" b="1">
                <a:solidFill>
                  <a:srgbClr val="1A2626"/>
                </a:solidFill>
                <a:latin typeface="Apple SD Gothic Neo"/>
              </a:rPr>
              <a:t>신청과 입금 확정 시 이메일 자동 발송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2500000"/>
            <a:ext cx="4700000" cy="3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6B7C7C"/>
                </a:solidFill>
                <a:latin typeface="Apple SD Gothic Neo"/>
              </a:rPr>
              <a:t>· 신청 직후: 유료는 계좌·금액 안내, 무료는 즉시 확정 안내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6B7C7C"/>
                </a:solidFill>
                <a:latin typeface="Apple SD Gothic Neo"/>
              </a:rPr>
              <a:t>· 입금 확인 시: 입장 QR이 담긴 확정 메일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6B7C7C"/>
                </a:solidFill>
                <a:latin typeface="Apple SD Gothic Neo"/>
              </a:rPr>
              <a:t>· 취소 시에도 안내 메일 — 모든 안내는 이메일로만</a:t>
            </a:r>
          </a:p>
        </p:txBody>
      </p:sp>
      <p:sp>
        <p:nvSpPr>
          <p:cNvPr id="4" name="Rectangle 3"/>
          <p:cNvSpPr/>
          <p:nvPr/>
        </p:nvSpPr>
        <p:spPr>
          <a:xfrm>
            <a:off x="7330818" y="640000"/>
            <a:ext cx="2638364" cy="5570000"/>
          </a:xfrm>
          <a:prstGeom prst="rect">
            <a:avLst/>
          </a:prstGeom>
          <a:solidFill>
            <a:srgbClr val="FFFFFF"/>
          </a:solidFill>
          <a:ln>
            <a:solidFill>
              <a:srgbClr val="E3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4-booking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0818" y="700000"/>
            <a:ext cx="2518364" cy="545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700000"/>
            <a:ext cx="470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1">
                <a:solidFill>
                  <a:srgbClr val="2B8A8A"/>
                </a:solidFill>
                <a:latin typeface="Apple SD Gothic Neo"/>
              </a:rPr>
              <a:t>04 계정</a:t>
            </a:r>
          </a:p>
          <a:p>
            <a:pPr algn="l">
              <a:spcAft>
                <a:spcPts val="2000"/>
              </a:spcAft>
            </a:pPr>
            <a:r>
              <a:rPr sz="2600" b="1">
                <a:solidFill>
                  <a:srgbClr val="1A2626"/>
                </a:solidFill>
                <a:latin typeface="Apple SD Gothic Neo"/>
              </a:rPr>
              <a:t>로그인·카카오 로그인, 비회원 예매 지원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2500000"/>
            <a:ext cx="4700000" cy="3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6B7C7C"/>
                </a:solidFill>
                <a:latin typeface="Apple SD Gothic Neo"/>
              </a:rPr>
              <a:t>· 이메일+비밀번호 또는 카카오로 로그인 (계정은 하나, 주최·참석 겸용)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6B7C7C"/>
                </a:solidFill>
                <a:latin typeface="Apple SD Gothic Neo"/>
              </a:rPr>
              <a:t>· 카카오는 이메일을 주지 않아 로그인 후 사용할 주소를 한 번 받는다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6B7C7C"/>
                </a:solidFill>
                <a:latin typeface="Apple SD Gothic Neo"/>
              </a:rPr>
              <a:t>· 비회원 예매는 이메일과 비밀번호(4자 이상)만 수집</a:t>
            </a:r>
          </a:p>
        </p:txBody>
      </p:sp>
      <p:sp>
        <p:nvSpPr>
          <p:cNvPr id="4" name="Rectangle 3"/>
          <p:cNvSpPr/>
          <p:nvPr/>
        </p:nvSpPr>
        <p:spPr>
          <a:xfrm>
            <a:off x="7330818" y="640000"/>
            <a:ext cx="2638364" cy="5570000"/>
          </a:xfrm>
          <a:prstGeom prst="rect">
            <a:avLst/>
          </a:prstGeom>
          <a:solidFill>
            <a:srgbClr val="FFFFFF"/>
          </a:solidFill>
          <a:ln>
            <a:solidFill>
              <a:srgbClr val="E3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-main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0818" y="700000"/>
            <a:ext cx="2518364" cy="545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700000"/>
            <a:ext cx="470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1">
                <a:solidFill>
                  <a:srgbClr val="2B8A8A"/>
                </a:solidFill>
                <a:latin typeface="Apple SD Gothic Neo"/>
              </a:rPr>
              <a:t>05 티켓 발급</a:t>
            </a:r>
          </a:p>
          <a:p>
            <a:pPr algn="l">
              <a:spcAft>
                <a:spcPts val="2000"/>
              </a:spcAft>
            </a:pPr>
            <a:r>
              <a:rPr sz="2600" b="1">
                <a:solidFill>
                  <a:srgbClr val="1A2626"/>
                </a:solidFill>
                <a:latin typeface="Apple SD Gothic Neo"/>
              </a:rPr>
              <a:t>예매 내역 조회로 입장 QR과 예매번호 발급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2500000"/>
            <a:ext cx="4700000" cy="3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6B7C7C"/>
                </a:solidFill>
                <a:latin typeface="Apple SD Gothic Neo"/>
              </a:rPr>
              <a:t>· 회원은 내 티켓에서, 비회원은 예매 링크의 조회 화면에서 확인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6B7C7C"/>
                </a:solidFill>
                <a:latin typeface="Apple SD Gothic Neo"/>
              </a:rPr>
              <a:t>· QR은 매수만큼 발급 — 2매면 2장, 한 장씩 따로 입장 가능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6B7C7C"/>
                </a:solidFill>
                <a:latin typeface="Apple SD Gothic Neo"/>
              </a:rPr>
              <a:t>· 예매번호는 스테이지별 신청 순번(#1, #2 …) — 현장 호명과 추첨에 사용</a:t>
            </a:r>
          </a:p>
        </p:txBody>
      </p:sp>
      <p:sp>
        <p:nvSpPr>
          <p:cNvPr id="4" name="Rectangle 3"/>
          <p:cNvSpPr/>
          <p:nvPr/>
        </p:nvSpPr>
        <p:spPr>
          <a:xfrm>
            <a:off x="7330818" y="640000"/>
            <a:ext cx="2638364" cy="5570000"/>
          </a:xfrm>
          <a:prstGeom prst="rect">
            <a:avLst/>
          </a:prstGeom>
          <a:solidFill>
            <a:srgbClr val="FFFFFF"/>
          </a:solidFill>
          <a:ln>
            <a:solidFill>
              <a:srgbClr val="E3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6-my-tick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0818" y="700000"/>
            <a:ext cx="2518364" cy="545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700000"/>
            <a:ext cx="470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1">
                <a:solidFill>
                  <a:srgbClr val="2B8A8A"/>
                </a:solidFill>
                <a:latin typeface="Apple SD Gothic Neo"/>
              </a:rPr>
              <a:t>06 당일 입장</a:t>
            </a:r>
          </a:p>
          <a:p>
            <a:pPr algn="l">
              <a:spcAft>
                <a:spcPts val="2000"/>
              </a:spcAft>
            </a:pPr>
            <a:r>
              <a:rPr sz="2600" b="1">
                <a:solidFill>
                  <a:srgbClr val="1A2626"/>
                </a:solidFill>
                <a:latin typeface="Apple SD Gothic Neo"/>
              </a:rPr>
              <a:t>공연 당일, QR로 간편 입장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2500000"/>
            <a:ext cx="4700000" cy="3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6B7C7C"/>
                </a:solidFill>
                <a:latin typeface="Apple SD Gothic Neo"/>
              </a:rPr>
              <a:t>· 스캔하면 이름·입금 상태·입장 여부가 즉시 표시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6B7C7C"/>
                </a:solidFill>
                <a:latin typeface="Apple SD Gothic Neo"/>
              </a:rPr>
              <a:t>· 입금 미확인은 경고로 차단, 이미 입장한 티켓은 재입장 시도로 알림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6B7C7C"/>
                </a:solidFill>
                <a:latin typeface="Apple SD Gothic Neo"/>
              </a:rPr>
              <a:t>· QR에는 개인정보 없이 무작위 토큰만 포함</a:t>
            </a:r>
          </a:p>
        </p:txBody>
      </p:sp>
      <p:sp>
        <p:nvSpPr>
          <p:cNvPr id="4" name="Rectangle 3"/>
          <p:cNvSpPr/>
          <p:nvPr/>
        </p:nvSpPr>
        <p:spPr>
          <a:xfrm>
            <a:off x="5840000" y="1555789"/>
            <a:ext cx="5620000" cy="3738421"/>
          </a:xfrm>
          <a:prstGeom prst="rect">
            <a:avLst/>
          </a:prstGeom>
          <a:solidFill>
            <a:srgbClr val="FFFFFF"/>
          </a:solidFill>
          <a:ln>
            <a:solidFill>
              <a:srgbClr val="E3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0-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0000" y="1615789"/>
            <a:ext cx="5500000" cy="361842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700000"/>
            <a:ext cx="470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1">
                <a:solidFill>
                  <a:srgbClr val="2B8A8A"/>
                </a:solidFill>
                <a:latin typeface="Apple SD Gothic Neo"/>
              </a:rPr>
              <a:t>07 추첨</a:t>
            </a:r>
          </a:p>
          <a:p>
            <a:pPr algn="l">
              <a:spcAft>
                <a:spcPts val="2000"/>
              </a:spcAft>
            </a:pPr>
            <a:r>
              <a:rPr sz="2600" b="1">
                <a:solidFill>
                  <a:srgbClr val="1A2626"/>
                </a:solidFill>
                <a:latin typeface="Apple SD Gothic Neo"/>
              </a:rPr>
              <a:t>실제 입장한 참석자만 대상으로 현장 추첨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2500000"/>
            <a:ext cx="4700000" cy="3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6B7C7C"/>
                </a:solidFill>
                <a:latin typeface="Apple SD Gothic Neo"/>
              </a:rPr>
              <a:t>· QR 스캔으로 입장 처리된 예매만 후보 — 오지 않은 사람은 제외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6B7C7C"/>
                </a:solidFill>
                <a:latin typeface="Apple SD Gothic Neo"/>
              </a:rPr>
              <a:t>· 여러 회차 진행, ‘이전 당첨자 제외’로 중복 없이 뽑기 (기록 저장)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6B7C7C"/>
                </a:solidFill>
                <a:latin typeface="Apple SD Gothic Neo"/>
              </a:rPr>
              <a:t>· 결과는 예매번호 + 마스킹된 이름·이메일 (#1 김*연 seoy***@…)</a:t>
            </a:r>
          </a:p>
        </p:txBody>
      </p:sp>
      <p:sp>
        <p:nvSpPr>
          <p:cNvPr id="4" name="Rectangle 3"/>
          <p:cNvSpPr/>
          <p:nvPr/>
        </p:nvSpPr>
        <p:spPr>
          <a:xfrm>
            <a:off x="5840000" y="1555789"/>
            <a:ext cx="5620000" cy="3738421"/>
          </a:xfrm>
          <a:prstGeom prst="rect">
            <a:avLst/>
          </a:prstGeom>
          <a:solidFill>
            <a:srgbClr val="FFFFFF"/>
          </a:solidFill>
          <a:ln>
            <a:solidFill>
              <a:srgbClr val="E3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8-d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0000" y="1615789"/>
            <a:ext cx="5500000" cy="361842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